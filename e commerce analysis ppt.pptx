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Canva Sans Bold" panose="020B0604020202020204" charset="0"/>
      <p:regular r:id="rId22"/>
    </p:embeddedFont>
    <p:embeddedFont>
      <p:font typeface="Feeling Passionate" panose="020B0604020202020204" charset="0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Bricolage Grotesque" panose="020B0604020202020204" charset="0"/>
      <p:regular r:id="rId28"/>
    </p:embeddedFont>
    <p:embeddedFont>
      <p:font typeface="Bricolage Grotesque 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ownloads\data%20analytics%20new\E%20commerce%20dashboard-excel%20projec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[E commerce dashboard-excel project.xlsx]pivot tables area!payment method in each region</c:name>
    <c:fmtId val="2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2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3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4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5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'pivot tables area'!$B$150:$B$151</c:f>
              <c:strCache>
                <c:ptCount val="1"/>
                <c:pt idx="0">
                  <c:v>Africa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 area'!$A$152:$A$157</c:f>
              <c:strCache>
                <c:ptCount val="5"/>
                <c:pt idx="0">
                  <c:v>Cash on Delivery</c:v>
                </c:pt>
                <c:pt idx="1">
                  <c:v>Credit Card</c:v>
                </c:pt>
                <c:pt idx="2">
                  <c:v>Debit Card</c:v>
                </c:pt>
                <c:pt idx="3">
                  <c:v>Net Banking</c:v>
                </c:pt>
                <c:pt idx="4">
                  <c:v>UPI</c:v>
                </c:pt>
              </c:strCache>
            </c:strRef>
          </c:cat>
          <c:val>
            <c:numRef>
              <c:f>'pivot tables area'!$B$152:$B$157</c:f>
              <c:numCache>
                <c:formatCode>General</c:formatCode>
                <c:ptCount val="5"/>
                <c:pt idx="0">
                  <c:v>43</c:v>
                </c:pt>
                <c:pt idx="1">
                  <c:v>40</c:v>
                </c:pt>
                <c:pt idx="2">
                  <c:v>37</c:v>
                </c:pt>
                <c:pt idx="3">
                  <c:v>38</c:v>
                </c:pt>
                <c:pt idx="4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66-4D29-A6DC-50353A34548C}"/>
            </c:ext>
          </c:extLst>
        </c:ser>
        <c:ser>
          <c:idx val="1"/>
          <c:order val="1"/>
          <c:tx>
            <c:strRef>
              <c:f>'pivot tables area'!$C$150:$C$151</c:f>
              <c:strCache>
                <c:ptCount val="1"/>
                <c:pt idx="0">
                  <c:v>Asia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 area'!$A$152:$A$157</c:f>
              <c:strCache>
                <c:ptCount val="5"/>
                <c:pt idx="0">
                  <c:v>Cash on Delivery</c:v>
                </c:pt>
                <c:pt idx="1">
                  <c:v>Credit Card</c:v>
                </c:pt>
                <c:pt idx="2">
                  <c:v>Debit Card</c:v>
                </c:pt>
                <c:pt idx="3">
                  <c:v>Net Banking</c:v>
                </c:pt>
                <c:pt idx="4">
                  <c:v>UPI</c:v>
                </c:pt>
              </c:strCache>
            </c:strRef>
          </c:cat>
          <c:val>
            <c:numRef>
              <c:f>'pivot tables area'!$C$152:$C$157</c:f>
              <c:numCache>
                <c:formatCode>General</c:formatCode>
                <c:ptCount val="5"/>
                <c:pt idx="0">
                  <c:v>35</c:v>
                </c:pt>
                <c:pt idx="1">
                  <c:v>36</c:v>
                </c:pt>
                <c:pt idx="2">
                  <c:v>42</c:v>
                </c:pt>
                <c:pt idx="3">
                  <c:v>40</c:v>
                </c:pt>
                <c:pt idx="4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966-4D29-A6DC-50353A34548C}"/>
            </c:ext>
          </c:extLst>
        </c:ser>
        <c:ser>
          <c:idx val="2"/>
          <c:order val="2"/>
          <c:tx>
            <c:strRef>
              <c:f>'pivot tables area'!$D$150:$D$151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 area'!$A$152:$A$157</c:f>
              <c:strCache>
                <c:ptCount val="5"/>
                <c:pt idx="0">
                  <c:v>Cash on Delivery</c:v>
                </c:pt>
                <c:pt idx="1">
                  <c:v>Credit Card</c:v>
                </c:pt>
                <c:pt idx="2">
                  <c:v>Debit Card</c:v>
                </c:pt>
                <c:pt idx="3">
                  <c:v>Net Banking</c:v>
                </c:pt>
                <c:pt idx="4">
                  <c:v>UPI</c:v>
                </c:pt>
              </c:strCache>
            </c:strRef>
          </c:cat>
          <c:val>
            <c:numRef>
              <c:f>'pivot tables area'!$D$152:$D$157</c:f>
              <c:numCache>
                <c:formatCode>General</c:formatCode>
                <c:ptCount val="5"/>
                <c:pt idx="0">
                  <c:v>37</c:v>
                </c:pt>
                <c:pt idx="1">
                  <c:v>47</c:v>
                </c:pt>
                <c:pt idx="2">
                  <c:v>41</c:v>
                </c:pt>
                <c:pt idx="3">
                  <c:v>41</c:v>
                </c:pt>
                <c:pt idx="4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966-4D29-A6DC-50353A34548C}"/>
            </c:ext>
          </c:extLst>
        </c:ser>
        <c:ser>
          <c:idx val="3"/>
          <c:order val="3"/>
          <c:tx>
            <c:strRef>
              <c:f>'pivot tables area'!$E$150:$E$151</c:f>
              <c:strCache>
                <c:ptCount val="1"/>
                <c:pt idx="0">
                  <c:v>Middle East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 area'!$A$152:$A$157</c:f>
              <c:strCache>
                <c:ptCount val="5"/>
                <c:pt idx="0">
                  <c:v>Cash on Delivery</c:v>
                </c:pt>
                <c:pt idx="1">
                  <c:v>Credit Card</c:v>
                </c:pt>
                <c:pt idx="2">
                  <c:v>Debit Card</c:v>
                </c:pt>
                <c:pt idx="3">
                  <c:v>Net Banking</c:v>
                </c:pt>
                <c:pt idx="4">
                  <c:v>UPI</c:v>
                </c:pt>
              </c:strCache>
            </c:strRef>
          </c:cat>
          <c:val>
            <c:numRef>
              <c:f>'pivot tables area'!$E$152:$E$157</c:f>
              <c:numCache>
                <c:formatCode>General</c:formatCode>
                <c:ptCount val="5"/>
                <c:pt idx="0">
                  <c:v>35</c:v>
                </c:pt>
                <c:pt idx="1">
                  <c:v>46</c:v>
                </c:pt>
                <c:pt idx="2">
                  <c:v>38</c:v>
                </c:pt>
                <c:pt idx="3">
                  <c:v>34</c:v>
                </c:pt>
                <c:pt idx="4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966-4D29-A6DC-50353A34548C}"/>
            </c:ext>
          </c:extLst>
        </c:ser>
        <c:ser>
          <c:idx val="4"/>
          <c:order val="4"/>
          <c:tx>
            <c:strRef>
              <c:f>'pivot tables area'!$F$150:$F$151</c:f>
              <c:strCache>
                <c:ptCount val="1"/>
                <c:pt idx="0">
                  <c:v>North America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 area'!$A$152:$A$157</c:f>
              <c:strCache>
                <c:ptCount val="5"/>
                <c:pt idx="0">
                  <c:v>Cash on Delivery</c:v>
                </c:pt>
                <c:pt idx="1">
                  <c:v>Credit Card</c:v>
                </c:pt>
                <c:pt idx="2">
                  <c:v>Debit Card</c:v>
                </c:pt>
                <c:pt idx="3">
                  <c:v>Net Banking</c:v>
                </c:pt>
                <c:pt idx="4">
                  <c:v>UPI</c:v>
                </c:pt>
              </c:strCache>
            </c:strRef>
          </c:cat>
          <c:val>
            <c:numRef>
              <c:f>'pivot tables area'!$F$152:$F$157</c:f>
              <c:numCache>
                <c:formatCode>General</c:formatCode>
                <c:ptCount val="5"/>
                <c:pt idx="0">
                  <c:v>34</c:v>
                </c:pt>
                <c:pt idx="1">
                  <c:v>44</c:v>
                </c:pt>
                <c:pt idx="2">
                  <c:v>48</c:v>
                </c:pt>
                <c:pt idx="3">
                  <c:v>35</c:v>
                </c:pt>
                <c:pt idx="4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966-4D29-A6DC-50353A3454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626665216"/>
        <c:axId val="1626669376"/>
      </c:barChart>
      <c:catAx>
        <c:axId val="162666521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6669376"/>
        <c:crosses val="autoZero"/>
        <c:auto val="1"/>
        <c:lblAlgn val="ctr"/>
        <c:lblOffset val="100"/>
        <c:noMultiLvlLbl val="0"/>
      </c:catAx>
      <c:valAx>
        <c:axId val="1626669376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bg2">
                  <a:lumMod val="50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1626665216"/>
        <c:crosses val="autoZero"/>
        <c:crossBetween val="between"/>
      </c:valAx>
      <c:spPr>
        <a:noFill/>
        <a:ln>
          <a:solidFill>
            <a:schemeClr val="accent1">
              <a:shade val="50000"/>
            </a:schemeClr>
          </a:solidFill>
        </a:ln>
        <a:effectLst/>
      </c:spPr>
    </c:plotArea>
    <c:legend>
      <c:legendPos val="r"/>
      <c:layout>
        <c:manualLayout>
          <c:xMode val="edge"/>
          <c:yMode val="edge"/>
          <c:x val="0.78867390080762334"/>
          <c:y val="0.12511603026156382"/>
          <c:w val="0.21132631006703104"/>
          <c:h val="0.625320587659084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1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chart" Target="../charts/chart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png"/><Relationship Id="rId4" Type="http://schemas.openxmlformats.org/officeDocument/2006/relationships/image" Target="../media/image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710041" y="2367794"/>
            <a:ext cx="10854826" cy="6276063"/>
          </a:xfrm>
          <a:custGeom>
            <a:avLst/>
            <a:gdLst/>
            <a:ahLst/>
            <a:cxnLst/>
            <a:rect l="l" t="t" r="r" b="b"/>
            <a:pathLst>
              <a:path w="10854826" h="6276063">
                <a:moveTo>
                  <a:pt x="0" y="0"/>
                </a:moveTo>
                <a:lnTo>
                  <a:pt x="10854826" y="0"/>
                </a:lnTo>
                <a:lnTo>
                  <a:pt x="10854826" y="6276063"/>
                </a:lnTo>
                <a:lnTo>
                  <a:pt x="0" y="62760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338131" y="2852995"/>
            <a:ext cx="4553485" cy="4959241"/>
          </a:xfrm>
          <a:custGeom>
            <a:avLst/>
            <a:gdLst/>
            <a:ahLst/>
            <a:cxnLst/>
            <a:rect l="l" t="t" r="r" b="b"/>
            <a:pathLst>
              <a:path w="4553485" h="4959241">
                <a:moveTo>
                  <a:pt x="0" y="0"/>
                </a:moveTo>
                <a:lnTo>
                  <a:pt x="4553485" y="0"/>
                </a:lnTo>
                <a:lnTo>
                  <a:pt x="4553485" y="4959241"/>
                </a:lnTo>
                <a:lnTo>
                  <a:pt x="0" y="495924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078002" y="8958317"/>
            <a:ext cx="3597737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www.reallygreatsite.com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600938" y="3549396"/>
            <a:ext cx="9073032" cy="3779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</a:pPr>
            <a:r>
              <a:rPr lang="en-US" sz="7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-COMMERCE SALES ANALYSIS DASHBOARD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364520" y="8815427"/>
            <a:ext cx="4466280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48"/>
              </a:lnSpc>
              <a:spcBef>
                <a:spcPct val="0"/>
              </a:spcBef>
            </a:pPr>
            <a:r>
              <a:rPr lang="en-US" sz="4605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𝒷𝓎 𝑅𝒶𝓀𝓈𝒽𝒾𝓉𝒽𝒶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927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180630" y="4162850"/>
            <a:ext cx="15497770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Analyze sales and profit trends.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Evaluate regional and product performance.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Study customer behavior and payment preferences.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Examine operational factors like discounts and shipping time.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Build an interactive Excel dashboard.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Generate insights to support business decision-making.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800600" y="1539868"/>
            <a:ext cx="8686800" cy="10900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40"/>
              </a:lnSpc>
            </a:pPr>
            <a:r>
              <a:rPr lang="en-US" sz="6100" b="1" dirty="0" smtClean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 OBJECTIVE</a:t>
            </a:r>
            <a:endParaRPr lang="en-US" sz="6100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352800" y="1225249"/>
            <a:ext cx="12314477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72"/>
              </a:lnSpc>
              <a:spcBef>
                <a:spcPct val="0"/>
              </a:spcBef>
            </a:pPr>
            <a:r>
              <a:rPr lang="en-US" sz="6123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ATTRIBUTES USED </a:t>
            </a:r>
            <a:r>
              <a:rPr lang="en-US" sz="6123" b="1" dirty="0" smtClean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 DATASET</a:t>
            </a:r>
            <a:endParaRPr lang="en-US" sz="6123" b="1" dirty="0">
              <a:solidFill>
                <a:srgbClr val="000000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93538" y="3496940"/>
            <a:ext cx="4540462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ID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ORDER ID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ORDER-DATE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 smtClean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ORDER-MONTH</a:t>
            </a:r>
            <a:endParaRPr lang="en-US" sz="3939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CUSTOMER ID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REGION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01168" y="3496940"/>
            <a:ext cx="5787033" cy="4157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COUNTRY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CITY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PRODUCT CATEGORY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PRODUCT NAME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SALES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QUATITY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442935" y="3339497"/>
            <a:ext cx="5508889" cy="4852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DISCOUNT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PROFIT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CHANNEL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PAYMENT METHOD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SHIPPING DAYS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YEAR 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MONTH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039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558699" y="1042477"/>
            <a:ext cx="9170602" cy="108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74"/>
              </a:lnSpc>
              <a:spcBef>
                <a:spcPct val="0"/>
              </a:spcBef>
            </a:pPr>
            <a:r>
              <a:rPr lang="en-US" sz="633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KPI’s DESIGNED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888502" y="3156278"/>
            <a:ext cx="8741898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TOTAL SALES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TOTAL PROFIT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TOTAL QUANTITY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TOTAL NUMBER OF ORDERS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PROFIT MARGIN</a:t>
            </a:r>
          </a:p>
          <a:p>
            <a:pPr marL="850505" lvl="1" indent="-425252" algn="l">
              <a:lnSpc>
                <a:spcPts val="5515"/>
              </a:lnSpc>
              <a:buFont typeface="Arial"/>
              <a:buChar char="•"/>
            </a:pPr>
            <a:r>
              <a:rPr lang="en-US" sz="393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YOY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121345" y="836197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1" y="0"/>
                </a:lnTo>
                <a:lnTo>
                  <a:pt x="1889261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07995" y="2782389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3499616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What are the total profit’s in region in 2024 and 2025?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836938" y="2813562"/>
            <a:ext cx="7239000" cy="5027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62"/>
              </a:lnSpc>
            </a:pPr>
            <a:r>
              <a:rPr lang="en-US" sz="3473" dirty="0" smtClean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 </a:t>
            </a: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2024 the total profit is:  184.58k</a:t>
            </a:r>
          </a:p>
          <a:p>
            <a:pPr algn="ctr">
              <a:lnSpc>
                <a:spcPts val="4862"/>
              </a:lnSpc>
            </a:pP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 2025 the total profit is: 160.42k</a:t>
            </a:r>
          </a:p>
          <a:p>
            <a:pPr algn="ctr">
              <a:lnSpc>
                <a:spcPts val="4862"/>
              </a:lnSpc>
            </a:pP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184.58K − 160.42K = 24.16K</a:t>
            </a:r>
          </a:p>
          <a:p>
            <a:pPr algn="l">
              <a:lnSpc>
                <a:spcPts val="4862"/>
              </a:lnSpc>
            </a:pP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Percentage Change:</a:t>
            </a:r>
          </a:p>
          <a:p>
            <a:pPr algn="ctr">
              <a:lnSpc>
                <a:spcPts val="4862"/>
              </a:lnSpc>
            </a:pP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(24.16/184.58)×100≈13.1%</a:t>
            </a:r>
          </a:p>
          <a:p>
            <a:pPr algn="ctr">
              <a:lnSpc>
                <a:spcPts val="4862"/>
              </a:lnSpc>
            </a:pPr>
            <a:r>
              <a:rPr lang="en-US" sz="34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Profit dropped by about 13% in 2025 compared to 2024</a:t>
            </a:r>
            <a:r>
              <a:rPr lang="en-US" sz="3473" dirty="0" smtClean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</a:t>
            </a:r>
          </a:p>
          <a:p>
            <a:pPr algn="ctr">
              <a:lnSpc>
                <a:spcPts val="4862"/>
              </a:lnSpc>
              <a:spcBef>
                <a:spcPct val="0"/>
              </a:spcBef>
            </a:pPr>
            <a:endParaRPr lang="en-US" sz="3473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406096" y="1181100"/>
            <a:ext cx="1705585" cy="1119484"/>
          </a:xfrm>
          <a:custGeom>
            <a:avLst/>
            <a:gdLst/>
            <a:ahLst/>
            <a:cxnLst/>
            <a:rect l="l" t="t" r="r" b="b"/>
            <a:pathLst>
              <a:path w="1705585" h="1119484">
                <a:moveTo>
                  <a:pt x="0" y="0"/>
                </a:moveTo>
                <a:lnTo>
                  <a:pt x="1705585" y="0"/>
                </a:lnTo>
                <a:lnTo>
                  <a:pt x="1705585" y="1119484"/>
                </a:lnTo>
                <a:lnTo>
                  <a:pt x="0" y="111948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58140" y="3497000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How is business performing year over year (YoY)?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91600" y="4152900"/>
            <a:ext cx="7649187" cy="3026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39"/>
              </a:lnSpc>
              <a:spcBef>
                <a:spcPct val="0"/>
              </a:spcBef>
            </a:pPr>
            <a:r>
              <a:rPr lang="en-US" sz="42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Business performance declined year-over-year, with sales decreasing by 15.74% in 2025 compared to 2024.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695765" y="1524946"/>
            <a:ext cx="7165274" cy="4563662"/>
          </a:xfrm>
          <a:custGeom>
            <a:avLst/>
            <a:gdLst/>
            <a:ahLst/>
            <a:cxnLst/>
            <a:rect l="l" t="t" r="r" b="b"/>
            <a:pathLst>
              <a:path w="7165274" h="4563662">
                <a:moveTo>
                  <a:pt x="0" y="0"/>
                </a:moveTo>
                <a:lnTo>
                  <a:pt x="7165274" y="0"/>
                </a:lnTo>
                <a:lnTo>
                  <a:pt x="7165274" y="4563662"/>
                </a:lnTo>
                <a:lnTo>
                  <a:pt x="0" y="45636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98277" y="3497000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city has the highest profit of margin?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38400" y="6590388"/>
            <a:ext cx="15273621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79"/>
              </a:lnSpc>
              <a:spcBef>
                <a:spcPct val="0"/>
              </a:spcBef>
            </a:pPr>
            <a:r>
              <a:rPr lang="en-US" sz="38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City A leads overall profitability, while City B emerged as the top performer in 2025, indicating shifting regional performance trends.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103382" y="8254825"/>
            <a:ext cx="15433679" cy="632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16"/>
              </a:lnSpc>
              <a:spcBef>
                <a:spcPct val="0"/>
              </a:spcBef>
            </a:pPr>
            <a:r>
              <a:rPr lang="en-US" sz="3725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Profit reduced, indicating an opportunity to improve margin efficiency.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44000" y="1632868"/>
            <a:ext cx="7349419" cy="4024601"/>
          </a:xfrm>
          <a:custGeom>
            <a:avLst/>
            <a:gdLst/>
            <a:ahLst/>
            <a:cxnLst/>
            <a:rect l="l" t="t" r="r" b="b"/>
            <a:pathLst>
              <a:path w="7349419" h="4024601">
                <a:moveTo>
                  <a:pt x="0" y="0"/>
                </a:moveTo>
                <a:lnTo>
                  <a:pt x="7349419" y="0"/>
                </a:lnTo>
                <a:lnTo>
                  <a:pt x="7349419" y="4024601"/>
                </a:lnTo>
                <a:lnTo>
                  <a:pt x="0" y="40246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522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58140" y="3540394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months show peak and low performance?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57401" y="6535395"/>
            <a:ext cx="15468599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79"/>
              </a:lnSpc>
              <a:spcBef>
                <a:spcPct val="0"/>
              </a:spcBef>
            </a:pPr>
            <a:r>
              <a:rPr lang="en-US" sz="38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Business performance peaks toward the end of the year, with December recording the highest sales and profit, while March and September show the lowest performance, indicating seasonal fluctuations in demand.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484830" y="1210155"/>
            <a:ext cx="7074132" cy="4149163"/>
          </a:xfrm>
          <a:custGeom>
            <a:avLst/>
            <a:gdLst/>
            <a:ahLst/>
            <a:cxnLst/>
            <a:rect l="l" t="t" r="r" b="b"/>
            <a:pathLst>
              <a:path w="7074132" h="4149163">
                <a:moveTo>
                  <a:pt x="0" y="0"/>
                </a:moveTo>
                <a:lnTo>
                  <a:pt x="7074133" y="0"/>
                </a:lnTo>
                <a:lnTo>
                  <a:pt x="7074133" y="4149163"/>
                </a:lnTo>
                <a:lnTo>
                  <a:pt x="0" y="4149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4514" r="-4514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58140" y="3497000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countries show peak and low performance?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60235" y="5926176"/>
            <a:ext cx="16230600" cy="2500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9"/>
              </a:lnSpc>
            </a:pPr>
            <a:r>
              <a:rPr lang="en-US" sz="35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INDIA,  FRANCE, UAE</a:t>
            </a:r>
          </a:p>
          <a:p>
            <a:pPr algn="ctr">
              <a:lnSpc>
                <a:spcPts val="4959"/>
              </a:lnSpc>
            </a:pPr>
            <a:r>
              <a:rPr lang="en-US" sz="35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These countries act as primary revenue drivers and represent the company’s strongest markets.”</a:t>
            </a:r>
          </a:p>
          <a:p>
            <a:pPr algn="ctr">
              <a:lnSpc>
                <a:spcPts val="4959"/>
              </a:lnSpc>
              <a:spcBef>
                <a:spcPct val="0"/>
              </a:spcBef>
            </a:pPr>
            <a:endParaRPr lang="en-US" sz="3542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057400" y="8059869"/>
            <a:ext cx="16230600" cy="1198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9"/>
              </a:lnSpc>
              <a:spcBef>
                <a:spcPct val="0"/>
              </a:spcBef>
            </a:pPr>
            <a:r>
              <a:rPr lang="en-US" sz="344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Canada contributes a smaller share of overall revenue, suggesting an opportunity to strengthen market penetration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855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01153" y="251265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57854" y="1975636"/>
            <a:ext cx="6579289" cy="4151835"/>
          </a:xfrm>
          <a:custGeom>
            <a:avLst/>
            <a:gdLst/>
            <a:ahLst/>
            <a:cxnLst/>
            <a:rect l="l" t="t" r="r" b="b"/>
            <a:pathLst>
              <a:path w="5171067" h="5174374">
                <a:moveTo>
                  <a:pt x="0" y="0"/>
                </a:moveTo>
                <a:lnTo>
                  <a:pt x="5171068" y="0"/>
                </a:lnTo>
                <a:lnTo>
                  <a:pt x="5171068" y="5174374"/>
                </a:lnTo>
                <a:lnTo>
                  <a:pt x="0" y="517437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2471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265512" y="3497000"/>
            <a:ext cx="7287533" cy="2760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product category contributes most to sales?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65512" y="7116654"/>
            <a:ext cx="16695484" cy="1243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9"/>
              </a:lnSpc>
              <a:spcBef>
                <a:spcPct val="0"/>
              </a:spcBef>
            </a:pPr>
            <a:r>
              <a:rPr lang="en-US" sz="35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The FASHION product category contributes the highest share of total sales, indicating strong customer demand and market preference for this category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624694" y="808802"/>
            <a:ext cx="8027234" cy="4247833"/>
          </a:xfrm>
          <a:custGeom>
            <a:avLst/>
            <a:gdLst/>
            <a:ahLst/>
            <a:cxnLst/>
            <a:rect l="l" t="t" r="r" b="b"/>
            <a:pathLst>
              <a:path w="8027234" h="4247833">
                <a:moveTo>
                  <a:pt x="0" y="0"/>
                </a:moveTo>
                <a:lnTo>
                  <a:pt x="8027235" y="0"/>
                </a:lnTo>
                <a:lnTo>
                  <a:pt x="8027235" y="4247833"/>
                </a:lnTo>
                <a:lnTo>
                  <a:pt x="0" y="42478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58140" y="3608549"/>
            <a:ext cx="7287533" cy="1830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What are the Top 5  products by sales?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91001" y="5865437"/>
            <a:ext cx="12268199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79"/>
              </a:lnSpc>
            </a:pPr>
            <a:r>
              <a:rPr lang="en-US" sz="38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The top 5 Products are:  SOFA, MIXER, BACKPACK, </a:t>
            </a:r>
          </a:p>
          <a:p>
            <a:pPr algn="ctr">
              <a:lnSpc>
                <a:spcPts val="5379"/>
              </a:lnSpc>
              <a:spcBef>
                <a:spcPct val="0"/>
              </a:spcBef>
            </a:pPr>
            <a:r>
              <a:rPr lang="en-US" sz="38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HEAD-PHONES, T_SHIRT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826780" y="7639755"/>
            <a:ext cx="15461220" cy="1127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Ensure stock availability, increase promotion efforts, and use successful products to boost sales of other items.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24245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82408" y="3463814"/>
            <a:ext cx="8161592" cy="1830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35"/>
              </a:lnSpc>
            </a:pPr>
            <a:r>
              <a:rPr lang="en-US" sz="5239" dirty="0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Do certain </a:t>
            </a:r>
            <a:r>
              <a:rPr lang="en-US" sz="5239" dirty="0" smtClean="0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cities </a:t>
            </a:r>
            <a:r>
              <a:rPr lang="en-US" sz="5239" dirty="0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prefer certain channels?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038600" y="6127217"/>
            <a:ext cx="12115800" cy="13336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239"/>
              </a:lnSpc>
            </a:pPr>
            <a:r>
              <a:rPr lang="en-US" sz="37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Customer purchasing channels vary by region, </a:t>
            </a:r>
          </a:p>
          <a:p>
            <a:pPr algn="ctr">
              <a:lnSpc>
                <a:spcPts val="5239"/>
              </a:lnSpc>
              <a:spcBef>
                <a:spcPct val="0"/>
              </a:spcBef>
            </a:pPr>
            <a:r>
              <a:rPr lang="en-US" sz="374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showing region-specific buying preferences.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843626" y="7796637"/>
            <a:ext cx="8959452" cy="1016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2"/>
              </a:lnSpc>
            </a:pPr>
            <a:r>
              <a:rPr lang="en-US" sz="2901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Apply region-based channel marketing strategies to </a:t>
            </a:r>
          </a:p>
          <a:p>
            <a:pPr algn="ctr">
              <a:lnSpc>
                <a:spcPts val="4062"/>
              </a:lnSpc>
              <a:spcBef>
                <a:spcPct val="0"/>
              </a:spcBef>
            </a:pPr>
            <a:r>
              <a:rPr lang="en-US" sz="2901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maximize engagement and sales.</a:t>
            </a:r>
          </a:p>
        </p:txBody>
      </p:sp>
      <p:sp>
        <p:nvSpPr>
          <p:cNvPr id="8" name="Freeform 8"/>
          <p:cNvSpPr/>
          <p:nvPr/>
        </p:nvSpPr>
        <p:spPr>
          <a:xfrm>
            <a:off x="9842159" y="472556"/>
            <a:ext cx="6879259" cy="4920324"/>
          </a:xfrm>
          <a:custGeom>
            <a:avLst/>
            <a:gdLst/>
            <a:ahLst/>
            <a:cxnLst/>
            <a:rect l="l" t="t" r="r" b="b"/>
            <a:pathLst>
              <a:path w="6879259" h="4920324">
                <a:moveTo>
                  <a:pt x="0" y="0"/>
                </a:moveTo>
                <a:lnTo>
                  <a:pt x="6879259" y="0"/>
                </a:lnTo>
                <a:lnTo>
                  <a:pt x="6879259" y="4920324"/>
                </a:lnTo>
                <a:lnTo>
                  <a:pt x="0" y="49203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4627" b="-4627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895435" y="1393366"/>
            <a:ext cx="7117185" cy="4318528"/>
          </a:xfrm>
          <a:custGeom>
            <a:avLst/>
            <a:gdLst/>
            <a:ahLst/>
            <a:cxnLst/>
            <a:rect l="l" t="t" r="r" b="b"/>
            <a:pathLst>
              <a:path w="7117185" h="4318528">
                <a:moveTo>
                  <a:pt x="0" y="0"/>
                </a:moveTo>
                <a:lnTo>
                  <a:pt x="7117185" y="0"/>
                </a:lnTo>
                <a:lnTo>
                  <a:pt x="7117185" y="4318527"/>
                </a:lnTo>
                <a:lnTo>
                  <a:pt x="0" y="43185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79699" y="3761104"/>
            <a:ext cx="7987922" cy="1793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78"/>
              </a:lnSpc>
            </a:pPr>
            <a:r>
              <a:rPr lang="en-US" sz="51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payment method is most used?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02869" y="6506120"/>
            <a:ext cx="16785131" cy="2007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79"/>
              </a:lnSpc>
              <a:spcBef>
                <a:spcPct val="0"/>
              </a:spcBef>
            </a:pPr>
            <a:r>
              <a:rPr lang="en-US" sz="384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UPI and Debit Card are the most frequently used payment methods across countries, indicating strong adoption of digital payments among customers.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7709" y="1039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7987922" cy="1793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78"/>
              </a:lnSpc>
            </a:pPr>
            <a:r>
              <a:rPr lang="en-US" sz="51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Are digital payments dominating over COD?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02869" y="6506120"/>
            <a:ext cx="16785131" cy="2007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79"/>
              </a:lnSpc>
              <a:spcBef>
                <a:spcPct val="0"/>
              </a:spcBef>
            </a:pPr>
            <a:r>
              <a:rPr lang="en-US" sz="384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Customers strongly prefer digital payment methods such as UPI, debit cards, and credit cards over Cash on Delivery, indicating increasing adoption of cashless transactions.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96400" y="1866901"/>
            <a:ext cx="6934200" cy="3978866"/>
          </a:xfrm>
          <a:prstGeom prst="roundRect">
            <a:avLst/>
          </a:prstGeom>
          <a:gradFill>
            <a:gsLst>
              <a:gs pos="82000">
                <a:schemeClr val="tx2">
                  <a:lumMod val="50000"/>
                </a:schemeClr>
              </a:gs>
              <a:gs pos="0">
                <a:schemeClr val="tx2">
                  <a:lumMod val="40000"/>
                  <a:lumOff val="60000"/>
                  <a:alpha val="4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graphicFrame>
        <p:nvGraphicFramePr>
          <p:cNvPr id="9" name="Chart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4066246"/>
              </p:ext>
            </p:extLst>
          </p:nvPr>
        </p:nvGraphicFramePr>
        <p:xfrm>
          <a:off x="9895434" y="2384782"/>
          <a:ext cx="6182766" cy="32159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9791700" y="1946811"/>
            <a:ext cx="2971800" cy="381000"/>
          </a:xfrm>
          <a:prstGeom prst="roundRect">
            <a:avLst/>
          </a:prstGeom>
          <a:gradFill>
            <a:gsLst>
              <a:gs pos="0">
                <a:schemeClr val="tx2">
                  <a:lumMod val="40000"/>
                  <a:lumOff val="60000"/>
                  <a:alpha val="71000"/>
                </a:schemeClr>
              </a:gs>
              <a:gs pos="78000">
                <a:schemeClr val="tx2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200" b="1" dirty="0"/>
              <a:t>PAYMENT</a:t>
            </a:r>
            <a:r>
              <a:rPr lang="en-IN" sz="1200" b="1" baseline="0" dirty="0"/>
              <a:t> METHOD USED IN EACH REGION</a:t>
            </a:r>
            <a:endParaRPr lang="en-IN" sz="1200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19168" y="1570298"/>
            <a:ext cx="9140132" cy="4501515"/>
          </a:xfrm>
          <a:custGeom>
            <a:avLst/>
            <a:gdLst/>
            <a:ahLst/>
            <a:cxnLst/>
            <a:rect l="l" t="t" r="r" b="b"/>
            <a:pathLst>
              <a:path w="9140132" h="4501515">
                <a:moveTo>
                  <a:pt x="0" y="0"/>
                </a:moveTo>
                <a:lnTo>
                  <a:pt x="9140132" y="0"/>
                </a:lnTo>
                <a:lnTo>
                  <a:pt x="9140132" y="4501515"/>
                </a:lnTo>
                <a:lnTo>
                  <a:pt x="0" y="45015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6262216" cy="1793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78"/>
              </a:lnSpc>
            </a:pPr>
            <a:r>
              <a:rPr lang="en-US" sz="51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Does shipping time </a:t>
            </a:r>
          </a:p>
          <a:p>
            <a:pPr algn="l">
              <a:lnSpc>
                <a:spcPts val="7178"/>
              </a:lnSpc>
            </a:pPr>
            <a:r>
              <a:rPr lang="en-US" sz="51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affect sales?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12463" y="6859479"/>
            <a:ext cx="17275948" cy="1216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5"/>
              </a:lnSpc>
              <a:spcBef>
                <a:spcPct val="0"/>
              </a:spcBef>
            </a:pPr>
            <a:r>
              <a:rPr lang="en-US" sz="348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Sales performance does not show a strong direct relationship with shipping time, as several cities with longer delivery durations still achieve high sales.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14272" y="8504289"/>
            <a:ext cx="9659456" cy="1450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74"/>
              </a:lnSpc>
              <a:spcBef>
                <a:spcPct val="0"/>
              </a:spcBef>
            </a:pPr>
            <a:r>
              <a:rPr lang="en-US" sz="2767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factors such as market demand, product popularity, or customer base may influence sales more than delivery speed.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15670" y="1395766"/>
            <a:ext cx="7891064" cy="4850579"/>
          </a:xfrm>
          <a:custGeom>
            <a:avLst/>
            <a:gdLst/>
            <a:ahLst/>
            <a:cxnLst/>
            <a:rect l="l" t="t" r="r" b="b"/>
            <a:pathLst>
              <a:path w="7891064" h="4850579">
                <a:moveTo>
                  <a:pt x="0" y="0"/>
                </a:moveTo>
                <a:lnTo>
                  <a:pt x="7891064" y="0"/>
                </a:lnTo>
                <a:lnTo>
                  <a:pt x="7891064" y="4850580"/>
                </a:lnTo>
                <a:lnTo>
                  <a:pt x="0" y="4850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6262216" cy="1661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18"/>
              </a:lnSpc>
            </a:pPr>
            <a:r>
              <a:rPr lang="en-US" sz="47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regions have longer delivery times?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7345254"/>
            <a:ext cx="18288000" cy="1145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95"/>
              </a:lnSpc>
              <a:spcBef>
                <a:spcPct val="0"/>
              </a:spcBef>
            </a:pPr>
            <a:r>
              <a:rPr lang="en-US" sz="328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Asia and Europe shows the longest average delivery time compared to other regions, indicating slower logistics performance in that market.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782" y="825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80755" y="1737962"/>
            <a:ext cx="7982543" cy="4166188"/>
          </a:xfrm>
          <a:custGeom>
            <a:avLst/>
            <a:gdLst/>
            <a:ahLst/>
            <a:cxnLst/>
            <a:rect l="l" t="t" r="r" b="b"/>
            <a:pathLst>
              <a:path w="7982543" h="4166188">
                <a:moveTo>
                  <a:pt x="0" y="0"/>
                </a:moveTo>
                <a:lnTo>
                  <a:pt x="7982544" y="0"/>
                </a:lnTo>
                <a:lnTo>
                  <a:pt x="7982544" y="4166188"/>
                </a:lnTo>
                <a:lnTo>
                  <a:pt x="0" y="4166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6262216" cy="1661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18"/>
              </a:lnSpc>
            </a:pPr>
            <a:r>
              <a:rPr lang="en-US" sz="47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How do discounts impact profit?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39411" y="6515100"/>
            <a:ext cx="13729388" cy="1731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55"/>
              </a:lnSpc>
            </a:pPr>
            <a:r>
              <a:rPr lang="en-US" sz="318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Higher discounts do not consistently lead to higher profits. </a:t>
            </a:r>
          </a:p>
          <a:p>
            <a:pPr algn="ctr">
              <a:lnSpc>
                <a:spcPts val="4455"/>
              </a:lnSpc>
            </a:pPr>
            <a:r>
              <a:rPr lang="en-US" sz="318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Excessive discounting appears to reduce profitability, </a:t>
            </a:r>
          </a:p>
          <a:p>
            <a:pPr algn="ctr">
              <a:lnSpc>
                <a:spcPts val="4455"/>
              </a:lnSpc>
              <a:spcBef>
                <a:spcPct val="0"/>
              </a:spcBef>
            </a:pPr>
            <a:r>
              <a:rPr lang="en-US" sz="3182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while moderate discount levels maintain healthier profit performance.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434731" y="1505000"/>
            <a:ext cx="8359770" cy="4710569"/>
          </a:xfrm>
          <a:custGeom>
            <a:avLst/>
            <a:gdLst/>
            <a:ahLst/>
            <a:cxnLst/>
            <a:rect l="l" t="t" r="r" b="b"/>
            <a:pathLst>
              <a:path w="8359770" h="4710569">
                <a:moveTo>
                  <a:pt x="0" y="0"/>
                </a:moveTo>
                <a:lnTo>
                  <a:pt x="8359770" y="0"/>
                </a:lnTo>
                <a:lnTo>
                  <a:pt x="8359770" y="4710569"/>
                </a:lnTo>
                <a:lnTo>
                  <a:pt x="0" y="47105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6262216" cy="2499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18"/>
              </a:lnSpc>
            </a:pPr>
            <a:r>
              <a:rPr lang="en-US" sz="47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Which country shows the most consistent sales trend?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07049" y="7156435"/>
            <a:ext cx="14073903" cy="187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15"/>
              </a:lnSpc>
            </a:pPr>
            <a:r>
              <a:rPr lang="en-US" sz="358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France demonstrates the most stable monthly sales performance, </a:t>
            </a:r>
          </a:p>
          <a:p>
            <a:pPr algn="ctr">
              <a:lnSpc>
                <a:spcPts val="5015"/>
              </a:lnSpc>
            </a:pPr>
            <a:r>
              <a:rPr lang="en-US" sz="358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indicating predictable demand and </a:t>
            </a:r>
          </a:p>
          <a:p>
            <a:pPr algn="ctr">
              <a:lnSpc>
                <a:spcPts val="5015"/>
              </a:lnSpc>
              <a:spcBef>
                <a:spcPct val="0"/>
              </a:spcBef>
            </a:pPr>
            <a:r>
              <a:rPr lang="en-US" sz="3582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steady customer purchasing behavior.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39411" y="710092"/>
            <a:ext cx="1889261" cy="2623974"/>
          </a:xfrm>
          <a:custGeom>
            <a:avLst/>
            <a:gdLst/>
            <a:ahLst/>
            <a:cxnLst/>
            <a:rect l="l" t="t" r="r" b="b"/>
            <a:pathLst>
              <a:path w="1889261" h="2623974">
                <a:moveTo>
                  <a:pt x="0" y="0"/>
                </a:moveTo>
                <a:lnTo>
                  <a:pt x="1889262" y="0"/>
                </a:lnTo>
                <a:lnTo>
                  <a:pt x="1889262" y="2623974"/>
                </a:lnTo>
                <a:lnTo>
                  <a:pt x="0" y="26239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81101" y="2932718"/>
            <a:ext cx="4120806" cy="3993436"/>
          </a:xfrm>
          <a:custGeom>
            <a:avLst/>
            <a:gdLst/>
            <a:ahLst/>
            <a:cxnLst/>
            <a:rect l="l" t="t" r="r" b="b"/>
            <a:pathLst>
              <a:path w="4120806" h="3993436">
                <a:moveTo>
                  <a:pt x="0" y="0"/>
                </a:moveTo>
                <a:lnTo>
                  <a:pt x="4120806" y="0"/>
                </a:lnTo>
                <a:lnTo>
                  <a:pt x="4120806" y="3993436"/>
                </a:lnTo>
                <a:lnTo>
                  <a:pt x="0" y="39934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7963858" y="1638300"/>
            <a:ext cx="7707019" cy="4342757"/>
          </a:xfrm>
          <a:custGeom>
            <a:avLst/>
            <a:gdLst/>
            <a:ahLst/>
            <a:cxnLst/>
            <a:rect l="l" t="t" r="r" b="b"/>
            <a:pathLst>
              <a:path w="7707019" h="4342757">
                <a:moveTo>
                  <a:pt x="0" y="0"/>
                </a:moveTo>
                <a:lnTo>
                  <a:pt x="7707019" y="0"/>
                </a:lnTo>
                <a:lnTo>
                  <a:pt x="7707019" y="4342756"/>
                </a:lnTo>
                <a:lnTo>
                  <a:pt x="0" y="434275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12463" y="3716281"/>
            <a:ext cx="6262216" cy="2499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18"/>
              </a:lnSpc>
            </a:pPr>
            <a:r>
              <a:rPr lang="en-US" sz="4727">
                <a:solidFill>
                  <a:srgbClr val="00691D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Where should we expand marketing investment?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11689" y="6634669"/>
            <a:ext cx="13066622" cy="118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43"/>
              </a:lnSpc>
              <a:spcBef>
                <a:spcPct val="0"/>
              </a:spcBef>
            </a:pPr>
            <a:r>
              <a:rPr lang="en-US" sz="3388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Marketing investment should be expanded in India and the UK, as they show high sales but fluctuating demand.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36500" y="8245873"/>
            <a:ext cx="8362355" cy="10117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82"/>
              </a:lnSpc>
              <a:spcBef>
                <a:spcPct val="0"/>
              </a:spcBef>
            </a:pPr>
            <a:r>
              <a:rPr lang="en-US" sz="2915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Consistent marketing can help stabilize sales by </a:t>
            </a:r>
          </a:p>
          <a:p>
            <a:pPr algn="ctr">
              <a:lnSpc>
                <a:spcPts val="4082"/>
              </a:lnSpc>
              <a:spcBef>
                <a:spcPct val="0"/>
              </a:spcBef>
            </a:pPr>
            <a:r>
              <a:rPr lang="en-US" sz="2915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maintaining continuous customer engagement.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333" b="-3333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785897" y="821391"/>
            <a:ext cx="8011085" cy="8011085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DBDB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688117" y="2326775"/>
            <a:ext cx="6206646" cy="5411423"/>
            <a:chOff x="0" y="0"/>
            <a:chExt cx="8275528" cy="7215231"/>
          </a:xfrm>
        </p:grpSpPr>
        <p:sp>
          <p:nvSpPr>
            <p:cNvPr id="7" name="TextBox 7"/>
            <p:cNvSpPr txBox="1"/>
            <p:nvPr/>
          </p:nvSpPr>
          <p:spPr>
            <a:xfrm>
              <a:off x="0" y="666750"/>
              <a:ext cx="8275528" cy="31738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994"/>
                </a:lnSpc>
              </a:pPr>
              <a:r>
                <a:rPr lang="en-US" sz="16659">
                  <a:solidFill>
                    <a:srgbClr val="000000"/>
                  </a:solidFill>
                  <a:latin typeface="Feeling Passionate"/>
                  <a:ea typeface="Feeling Passionate"/>
                  <a:cs typeface="Feeling Passionate"/>
                  <a:sym typeface="Feeling Passionate"/>
                </a:rPr>
                <a:t>Thank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92261" y="4744714"/>
              <a:ext cx="4261316" cy="24705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015"/>
                </a:lnSpc>
              </a:pPr>
              <a:r>
                <a:rPr lang="en-US" sz="14122">
                  <a:solidFill>
                    <a:srgbClr val="000000"/>
                  </a:solidFill>
                  <a:latin typeface="Feeling Passionate"/>
                  <a:ea typeface="Feeling Passionate"/>
                  <a:cs typeface="Feeling Passionate"/>
                  <a:sym typeface="Feeling Passionate"/>
                </a:rPr>
                <a:t>You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663</Words>
  <Application>Microsoft Office PowerPoint</Application>
  <PresentationFormat>Custom</PresentationFormat>
  <Paragraphs>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Canva Sans Bold</vt:lpstr>
      <vt:lpstr>Feeling Passionate</vt:lpstr>
      <vt:lpstr>Calibri</vt:lpstr>
      <vt:lpstr>Bricolage Grotesque</vt:lpstr>
      <vt:lpstr>Arial</vt:lpstr>
      <vt:lpstr>Bricolage Grotesque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2024 the total profit is: 184.58k in 2025 the total profit is: 160.42k 184.58K − 160.42K = 24.16K Percentage Change: 24.16184.58×100≈13.1%\frac{24.16}{184.58} \times 100 \approx 13.1\%184.5824.16​×100≈13.1% Profit dropped by about 13% in 2025 compared</dc:title>
  <dc:creator>USER</dc:creator>
  <cp:lastModifiedBy>USER</cp:lastModifiedBy>
  <cp:revision>6</cp:revision>
  <dcterms:created xsi:type="dcterms:W3CDTF">2006-08-16T00:00:00Z</dcterms:created>
  <dcterms:modified xsi:type="dcterms:W3CDTF">2026-02-18T16:47:01Z</dcterms:modified>
  <dc:identifier>DAHBqxKATeE</dc:identifier>
</cp:coreProperties>
</file>