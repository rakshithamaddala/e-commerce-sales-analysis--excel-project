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Bricolage Grotesque Bold" panose="020B0604020202020204" charset="0"/>
      <p:regular r:id="rId22"/>
    </p:embeddedFont>
    <p:embeddedFont>
      <p:font typeface="Bricolage Grotesque" panose="020B0604020202020204" charset="0"/>
      <p:regular r:id="rId23"/>
    </p:embeddedFont>
    <p:embeddedFont>
      <p:font typeface="Canva Sans Bold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Feeling Passionate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10041" y="2367794"/>
            <a:ext cx="10854826" cy="6276063"/>
          </a:xfrm>
          <a:custGeom>
            <a:avLst/>
            <a:gdLst/>
            <a:ahLst/>
            <a:cxnLst/>
            <a:rect l="l" t="t" r="r" b="b"/>
            <a:pathLst>
              <a:path w="10854826" h="6276063">
                <a:moveTo>
                  <a:pt x="0" y="0"/>
                </a:moveTo>
                <a:lnTo>
                  <a:pt x="10854826" y="0"/>
                </a:lnTo>
                <a:lnTo>
                  <a:pt x="10854826" y="6276063"/>
                </a:lnTo>
                <a:lnTo>
                  <a:pt x="0" y="62760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38131" y="2852995"/>
            <a:ext cx="4553485" cy="4959241"/>
          </a:xfrm>
          <a:custGeom>
            <a:avLst/>
            <a:gdLst/>
            <a:ahLst/>
            <a:cxnLst/>
            <a:rect l="l" t="t" r="r" b="b"/>
            <a:pathLst>
              <a:path w="4553485" h="4959241">
                <a:moveTo>
                  <a:pt x="0" y="0"/>
                </a:moveTo>
                <a:lnTo>
                  <a:pt x="4553485" y="0"/>
                </a:lnTo>
                <a:lnTo>
                  <a:pt x="4553485" y="4959241"/>
                </a:lnTo>
                <a:lnTo>
                  <a:pt x="0" y="49592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078002" y="8958317"/>
            <a:ext cx="359773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www.reallygreatsite.com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00938" y="3549396"/>
            <a:ext cx="9073032" cy="377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-COMMERCE SALES ANALYSIS 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64520" y="8815427"/>
            <a:ext cx="446628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8"/>
              </a:lnSpc>
              <a:spcBef>
                <a:spcPct val="0"/>
              </a:spcBef>
            </a:pPr>
            <a:r>
              <a:rPr lang="en-US" sz="4605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𝒷𝓎 𝑅𝒶𝓀𝓈𝒽𝒾𝓉𝒽𝒶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2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80630" y="4162850"/>
            <a:ext cx="15497770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Analyze sales and profit trends.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Evaluate regional and product performance.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Study customer behavior and payment preferences.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Examine operational factors like discounts and shipping time.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 an interactive Excel dashboard.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Generate insights to support business decision-making.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00600" y="1539868"/>
            <a:ext cx="86868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</a:t>
            </a:r>
            <a:endParaRPr lang="en-US" sz="61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52800" y="1225249"/>
            <a:ext cx="12314477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72"/>
              </a:lnSpc>
              <a:spcBef>
                <a:spcPct val="0"/>
              </a:spcBef>
            </a:pPr>
            <a:r>
              <a:rPr lang="en-US" sz="6123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ATTRIBUTES USED </a:t>
            </a:r>
            <a:r>
              <a:rPr lang="en-US" sz="6123" b="1" dirty="0" smtClean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 DATASET</a:t>
            </a:r>
            <a:endParaRPr lang="en-US" sz="6123" b="1" dirty="0">
              <a:solidFill>
                <a:srgbClr val="00000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93538" y="3496940"/>
            <a:ext cx="4540462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ID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ORDER ID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ORDER-DATE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 smtClean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ORDER-MONTH</a:t>
            </a:r>
            <a:endParaRPr lang="en-US" sz="3939" dirty="0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CUSTOMER ID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REGION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1168" y="3496940"/>
            <a:ext cx="5787033" cy="4157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COUNTRY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CITY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PRODUCT CATEGORY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PRODUCT NAME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SALES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QUATITY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935" y="3339497"/>
            <a:ext cx="5508889" cy="485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DISCOUNT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PROFIT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CHANNEL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PAYMENT METHOD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SHIPPING DAYS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YEAR 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3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58699" y="1042477"/>
            <a:ext cx="9170602" cy="10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4"/>
              </a:lnSpc>
              <a:spcBef>
                <a:spcPct val="0"/>
              </a:spcBef>
            </a:pPr>
            <a:r>
              <a:rPr lang="en-US" sz="633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KPI’s DESIGNED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88502" y="3156278"/>
            <a:ext cx="8741898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SALES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PROFIT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QUANTITY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NUMBER OF ORDERS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PROFIT MARGIN</a:t>
            </a:r>
          </a:p>
          <a:p>
            <a:pPr marL="850505" lvl="1" indent="-425252" algn="l">
              <a:lnSpc>
                <a:spcPts val="5515"/>
              </a:lnSpc>
              <a:buFont typeface="Arial"/>
              <a:buChar char="•"/>
            </a:pPr>
            <a:r>
              <a:rPr lang="en-US" sz="3939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YOY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21345" y="836197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1" y="0"/>
                </a:lnTo>
                <a:lnTo>
                  <a:pt x="1889261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7995" y="2782389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499616"/>
            <a:ext cx="7287533" cy="276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are the total profit’s in region in 2024 and 2025?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36938" y="2813562"/>
            <a:ext cx="7239000" cy="5027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sz="3473" dirty="0" smtClean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</a:t>
            </a:r>
            <a:r>
              <a:rPr lang="en-US" sz="347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2024 the total profit is:  184.58k</a:t>
            </a:r>
          </a:p>
          <a:p>
            <a:pPr algn="ctr">
              <a:lnSpc>
                <a:spcPts val="4862"/>
              </a:lnSpc>
            </a:pPr>
            <a:r>
              <a:rPr lang="en-US" sz="347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 2025 the total profit is: 160.42k</a:t>
            </a:r>
          </a:p>
          <a:p>
            <a:pPr algn="ctr">
              <a:lnSpc>
                <a:spcPts val="4862"/>
              </a:lnSpc>
            </a:pPr>
            <a:r>
              <a:rPr lang="en-US" sz="347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184.58K − 160.42K = 24.16K</a:t>
            </a:r>
          </a:p>
          <a:p>
            <a:pPr algn="l">
              <a:lnSpc>
                <a:spcPts val="4862"/>
              </a:lnSpc>
            </a:pPr>
            <a:r>
              <a:rPr lang="en-US" sz="347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Percentage Change:</a:t>
            </a:r>
          </a:p>
          <a:p>
            <a:pPr algn="ctr">
              <a:lnSpc>
                <a:spcPts val="4862"/>
              </a:lnSpc>
            </a:pPr>
            <a:r>
              <a:rPr lang="en-US" sz="347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(24.16/184.58)×100≈13.1%</a:t>
            </a:r>
          </a:p>
          <a:p>
            <a:pPr algn="ctr">
              <a:lnSpc>
                <a:spcPts val="4862"/>
              </a:lnSpc>
            </a:pPr>
            <a:r>
              <a:rPr lang="en-US" sz="347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Profit dropped by about 13% in 2025 compared to 2024</a:t>
            </a:r>
            <a:r>
              <a:rPr lang="en-US" sz="3473" dirty="0" smtClean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.</a:t>
            </a:r>
          </a:p>
          <a:p>
            <a:pPr algn="ctr">
              <a:lnSpc>
                <a:spcPts val="4862"/>
              </a:lnSpc>
              <a:spcBef>
                <a:spcPct val="0"/>
              </a:spcBef>
            </a:pPr>
            <a:endParaRPr lang="en-US" sz="3473" dirty="0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06096" y="1181100"/>
            <a:ext cx="1705585" cy="1119484"/>
          </a:xfrm>
          <a:custGeom>
            <a:avLst/>
            <a:gdLst/>
            <a:ahLst/>
            <a:cxnLst/>
            <a:rect l="l" t="t" r="r" b="b"/>
            <a:pathLst>
              <a:path w="1705585" h="1119484">
                <a:moveTo>
                  <a:pt x="0" y="0"/>
                </a:moveTo>
                <a:lnTo>
                  <a:pt x="1705585" y="0"/>
                </a:lnTo>
                <a:lnTo>
                  <a:pt x="1705585" y="1119484"/>
                </a:lnTo>
                <a:lnTo>
                  <a:pt x="0" y="11194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8140" y="3497000"/>
            <a:ext cx="7287533" cy="276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is business performing year over year (YoY)?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91600" y="4152900"/>
            <a:ext cx="7649187" cy="3026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42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Business performance declined year-over-year, with sales decreasing by 15.74% in 2025 compared to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95765" y="1524946"/>
            <a:ext cx="7165274" cy="4563662"/>
          </a:xfrm>
          <a:custGeom>
            <a:avLst/>
            <a:gdLst/>
            <a:ahLst/>
            <a:cxnLst/>
            <a:rect l="l" t="t" r="r" b="b"/>
            <a:pathLst>
              <a:path w="7165274" h="4563662">
                <a:moveTo>
                  <a:pt x="0" y="0"/>
                </a:moveTo>
                <a:lnTo>
                  <a:pt x="7165274" y="0"/>
                </a:lnTo>
                <a:lnTo>
                  <a:pt x="7165274" y="4563662"/>
                </a:lnTo>
                <a:lnTo>
                  <a:pt x="0" y="45636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98277" y="3497000"/>
            <a:ext cx="7287533" cy="276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city has the highest profit of margin?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38400" y="6590388"/>
            <a:ext cx="1527362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79"/>
              </a:lnSpc>
              <a:spcBef>
                <a:spcPct val="0"/>
              </a:spcBef>
            </a:pPr>
            <a:r>
              <a:rPr lang="en-US" sz="38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City A leads overall profitability, while City B emerged as the top performer in 2025, indicating shifting regional performance trends.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3382" y="8254825"/>
            <a:ext cx="15433679" cy="63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6"/>
              </a:lnSpc>
              <a:spcBef>
                <a:spcPct val="0"/>
              </a:spcBef>
            </a:pPr>
            <a:r>
              <a:rPr lang="en-US" sz="372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Profit reduced, indicating an opportunity to improve margin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1632868"/>
            <a:ext cx="7349419" cy="4024601"/>
          </a:xfrm>
          <a:custGeom>
            <a:avLst/>
            <a:gdLst/>
            <a:ahLst/>
            <a:cxnLst/>
            <a:rect l="l" t="t" r="r" b="b"/>
            <a:pathLst>
              <a:path w="7349419" h="4024601">
                <a:moveTo>
                  <a:pt x="0" y="0"/>
                </a:moveTo>
                <a:lnTo>
                  <a:pt x="7349419" y="0"/>
                </a:lnTo>
                <a:lnTo>
                  <a:pt x="7349419" y="4024601"/>
                </a:lnTo>
                <a:lnTo>
                  <a:pt x="0" y="4024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2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8140" y="3540394"/>
            <a:ext cx="7287533" cy="276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months show peak and low performance?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7401" y="6535395"/>
            <a:ext cx="15468599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79"/>
              </a:lnSpc>
              <a:spcBef>
                <a:spcPct val="0"/>
              </a:spcBef>
            </a:pPr>
            <a:r>
              <a:rPr lang="en-US" sz="38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Business performance peaks toward the end of the year, with December recording the highest sales and profit, while March and September show the lowest performance, indicating seasonal fluctuations in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84830" y="1210155"/>
            <a:ext cx="7074132" cy="4149163"/>
          </a:xfrm>
          <a:custGeom>
            <a:avLst/>
            <a:gdLst/>
            <a:ahLst/>
            <a:cxnLst/>
            <a:rect l="l" t="t" r="r" b="b"/>
            <a:pathLst>
              <a:path w="7074132" h="4149163">
                <a:moveTo>
                  <a:pt x="0" y="0"/>
                </a:moveTo>
                <a:lnTo>
                  <a:pt x="7074133" y="0"/>
                </a:lnTo>
                <a:lnTo>
                  <a:pt x="7074133" y="4149163"/>
                </a:lnTo>
                <a:lnTo>
                  <a:pt x="0" y="4149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514" r="-451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8140" y="3497000"/>
            <a:ext cx="7287533" cy="276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countries show peak and low performance?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60235" y="5926176"/>
            <a:ext cx="16230600" cy="250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</a:pPr>
            <a:r>
              <a:rPr lang="en-US" sz="35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INDIA,  FRANCE, UAE</a:t>
            </a:r>
          </a:p>
          <a:p>
            <a:pPr algn="ctr">
              <a:lnSpc>
                <a:spcPts val="4959"/>
              </a:lnSpc>
            </a:pPr>
            <a:r>
              <a:rPr lang="en-US" sz="35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These countries act as primary revenue drivers and represent the company’s strongest markets.”</a:t>
            </a:r>
          </a:p>
          <a:p>
            <a:pPr algn="ctr">
              <a:lnSpc>
                <a:spcPts val="4959"/>
              </a:lnSpc>
              <a:spcBef>
                <a:spcPct val="0"/>
              </a:spcBef>
            </a:pPr>
            <a:endParaRPr lang="en-US" sz="3542" dirty="0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57400" y="8059869"/>
            <a:ext cx="16230600" cy="11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9"/>
              </a:lnSpc>
              <a:spcBef>
                <a:spcPct val="0"/>
              </a:spcBef>
            </a:pPr>
            <a:r>
              <a:rPr lang="en-US" sz="344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Canada contributes a smaller share of overall revenue, suggesting an opportunity to strengthen market penetration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85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1153" y="251265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57854" y="1975636"/>
            <a:ext cx="6579289" cy="4151835"/>
          </a:xfrm>
          <a:custGeom>
            <a:avLst/>
            <a:gdLst/>
            <a:ahLst/>
            <a:cxnLst/>
            <a:rect l="l" t="t" r="r" b="b"/>
            <a:pathLst>
              <a:path w="5171067" h="5174374">
                <a:moveTo>
                  <a:pt x="0" y="0"/>
                </a:moveTo>
                <a:lnTo>
                  <a:pt x="5171068" y="0"/>
                </a:lnTo>
                <a:lnTo>
                  <a:pt x="5171068" y="5174374"/>
                </a:lnTo>
                <a:lnTo>
                  <a:pt x="0" y="51743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47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65512" y="3497000"/>
            <a:ext cx="7287533" cy="276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product category contributes most to sales?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5512" y="7116654"/>
            <a:ext cx="16695484" cy="1243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5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FASHION product category contributes the highest share of total sales, indicating strong customer demand and market preference for this category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24694" y="808802"/>
            <a:ext cx="8027234" cy="4247833"/>
          </a:xfrm>
          <a:custGeom>
            <a:avLst/>
            <a:gdLst/>
            <a:ahLst/>
            <a:cxnLst/>
            <a:rect l="l" t="t" r="r" b="b"/>
            <a:pathLst>
              <a:path w="8027234" h="4247833">
                <a:moveTo>
                  <a:pt x="0" y="0"/>
                </a:moveTo>
                <a:lnTo>
                  <a:pt x="8027235" y="0"/>
                </a:lnTo>
                <a:lnTo>
                  <a:pt x="8027235" y="4247833"/>
                </a:lnTo>
                <a:lnTo>
                  <a:pt x="0" y="4247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8140" y="3608549"/>
            <a:ext cx="7287533" cy="183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are the Top 5  products by sales?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91001" y="5865437"/>
            <a:ext cx="1226819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sz="38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top 5 Products are:  SOFA, MIXER, BACKPACK, </a:t>
            </a:r>
          </a:p>
          <a:p>
            <a:pPr algn="ctr">
              <a:lnSpc>
                <a:spcPts val="5379"/>
              </a:lnSpc>
              <a:spcBef>
                <a:spcPct val="0"/>
              </a:spcBef>
            </a:pPr>
            <a:r>
              <a:rPr lang="en-US" sz="38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HEAD-PHONES, T_SHIRT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26780" y="7639755"/>
            <a:ext cx="15461220" cy="112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Ensure stock availability, increase promotion efforts, and use successful products to boost sales of other items.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42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82408" y="3463814"/>
            <a:ext cx="8161592" cy="183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35"/>
              </a:lnSpc>
            </a:pPr>
            <a:r>
              <a:rPr lang="en-US" sz="5239" dirty="0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 certain </a:t>
            </a:r>
            <a:r>
              <a:rPr lang="en-US" sz="5239" dirty="0" smtClean="0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cities </a:t>
            </a:r>
            <a:r>
              <a:rPr lang="en-US" sz="5239" dirty="0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prefer certain channels?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38600" y="6127217"/>
            <a:ext cx="12115800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39"/>
              </a:lnSpc>
            </a:pPr>
            <a:r>
              <a:rPr lang="en-US" sz="37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Customer purchasing channels vary by region, </a:t>
            </a:r>
          </a:p>
          <a:p>
            <a:pPr algn="ctr">
              <a:lnSpc>
                <a:spcPts val="5239"/>
              </a:lnSpc>
              <a:spcBef>
                <a:spcPct val="0"/>
              </a:spcBef>
            </a:pPr>
            <a:r>
              <a:rPr lang="en-US" sz="374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showing region-specific buying preferences.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43626" y="7796637"/>
            <a:ext cx="8959452" cy="101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2"/>
              </a:lnSpc>
            </a:pPr>
            <a:r>
              <a:rPr lang="en-US" sz="290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Apply region-based channel marketing strategies to </a:t>
            </a:r>
          </a:p>
          <a:p>
            <a:pPr algn="ctr">
              <a:lnSpc>
                <a:spcPts val="4062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maximize engagement and sales.</a:t>
            </a:r>
          </a:p>
        </p:txBody>
      </p:sp>
      <p:sp>
        <p:nvSpPr>
          <p:cNvPr id="8" name="Freeform 8"/>
          <p:cNvSpPr/>
          <p:nvPr/>
        </p:nvSpPr>
        <p:spPr>
          <a:xfrm>
            <a:off x="9842159" y="472556"/>
            <a:ext cx="6879259" cy="4920324"/>
          </a:xfrm>
          <a:custGeom>
            <a:avLst/>
            <a:gdLst/>
            <a:ahLst/>
            <a:cxnLst/>
            <a:rect l="l" t="t" r="r" b="b"/>
            <a:pathLst>
              <a:path w="6879259" h="4920324">
                <a:moveTo>
                  <a:pt x="0" y="0"/>
                </a:moveTo>
                <a:lnTo>
                  <a:pt x="6879259" y="0"/>
                </a:lnTo>
                <a:lnTo>
                  <a:pt x="6879259" y="4920324"/>
                </a:lnTo>
                <a:lnTo>
                  <a:pt x="0" y="49203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627" b="-4627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95435" y="1393366"/>
            <a:ext cx="7117185" cy="4318528"/>
          </a:xfrm>
          <a:custGeom>
            <a:avLst/>
            <a:gdLst/>
            <a:ahLst/>
            <a:cxnLst/>
            <a:rect l="l" t="t" r="r" b="b"/>
            <a:pathLst>
              <a:path w="7117185" h="4318528">
                <a:moveTo>
                  <a:pt x="0" y="0"/>
                </a:moveTo>
                <a:lnTo>
                  <a:pt x="7117185" y="0"/>
                </a:lnTo>
                <a:lnTo>
                  <a:pt x="7117185" y="4318527"/>
                </a:lnTo>
                <a:lnTo>
                  <a:pt x="0" y="4318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79699" y="3761104"/>
            <a:ext cx="7987922" cy="179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8"/>
              </a:lnSpc>
            </a:pPr>
            <a:r>
              <a:rPr lang="en-US" sz="51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payment method is most used?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2869" y="6506120"/>
            <a:ext cx="16785131" cy="200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9"/>
              </a:lnSpc>
              <a:spcBef>
                <a:spcPct val="0"/>
              </a:spcBef>
            </a:pPr>
            <a:r>
              <a:rPr lang="en-US" sz="384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UPI and Debit Card are the most frequently used payment methods across countries, indicating strong adoption of digital payments among customers.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02092" y="937981"/>
            <a:ext cx="7708648" cy="4792171"/>
          </a:xfrm>
          <a:custGeom>
            <a:avLst/>
            <a:gdLst/>
            <a:ahLst/>
            <a:cxnLst/>
            <a:rect l="l" t="t" r="r" b="b"/>
            <a:pathLst>
              <a:path w="7708648" h="4792171">
                <a:moveTo>
                  <a:pt x="0" y="0"/>
                </a:moveTo>
                <a:lnTo>
                  <a:pt x="7708647" y="0"/>
                </a:lnTo>
                <a:lnTo>
                  <a:pt x="7708647" y="4792171"/>
                </a:lnTo>
                <a:lnTo>
                  <a:pt x="0" y="479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2463" y="3716281"/>
            <a:ext cx="7987922" cy="179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8"/>
              </a:lnSpc>
            </a:pPr>
            <a:r>
              <a:rPr lang="en-US" sz="51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Are digital payments dominating over COD?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2869" y="6506120"/>
            <a:ext cx="16785131" cy="200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9"/>
              </a:lnSpc>
              <a:spcBef>
                <a:spcPct val="0"/>
              </a:spcBef>
            </a:pPr>
            <a:r>
              <a:rPr lang="en-US" sz="384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Customers strongly prefer digital payment methods such as UPI, debit cards, and credit cards over Cash on Delivery, indicating increasing adoption of cashless transactions.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19168" y="1570298"/>
            <a:ext cx="9140132" cy="4501515"/>
          </a:xfrm>
          <a:custGeom>
            <a:avLst/>
            <a:gdLst/>
            <a:ahLst/>
            <a:cxnLst/>
            <a:rect l="l" t="t" r="r" b="b"/>
            <a:pathLst>
              <a:path w="9140132" h="4501515">
                <a:moveTo>
                  <a:pt x="0" y="0"/>
                </a:moveTo>
                <a:lnTo>
                  <a:pt x="9140132" y="0"/>
                </a:lnTo>
                <a:lnTo>
                  <a:pt x="9140132" y="4501515"/>
                </a:lnTo>
                <a:lnTo>
                  <a:pt x="0" y="45015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2463" y="3716281"/>
            <a:ext cx="6262216" cy="179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8"/>
              </a:lnSpc>
            </a:pPr>
            <a:r>
              <a:rPr lang="en-US" sz="51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Does shipping time </a:t>
            </a:r>
          </a:p>
          <a:p>
            <a:pPr algn="l">
              <a:lnSpc>
                <a:spcPts val="7178"/>
              </a:lnSpc>
            </a:pPr>
            <a:r>
              <a:rPr lang="en-US" sz="51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affect sales?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2463" y="6859479"/>
            <a:ext cx="17275948" cy="121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  <a:spcBef>
                <a:spcPct val="0"/>
              </a:spcBef>
            </a:pPr>
            <a:r>
              <a:rPr lang="en-US" sz="34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Sales performance does not show a strong direct relationship with shipping time, as several cities with longer delivery durations still achieve high sales.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4272" y="8504289"/>
            <a:ext cx="9659456" cy="1450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4"/>
              </a:lnSpc>
              <a:spcBef>
                <a:spcPct val="0"/>
              </a:spcBef>
            </a:pPr>
            <a:r>
              <a:rPr lang="en-US" sz="2767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factors such as market demand, product popularity, or customer base may influence sales more than delivery speed.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15670" y="1395766"/>
            <a:ext cx="7891064" cy="4850579"/>
          </a:xfrm>
          <a:custGeom>
            <a:avLst/>
            <a:gdLst/>
            <a:ahLst/>
            <a:cxnLst/>
            <a:rect l="l" t="t" r="r" b="b"/>
            <a:pathLst>
              <a:path w="7891064" h="4850579">
                <a:moveTo>
                  <a:pt x="0" y="0"/>
                </a:moveTo>
                <a:lnTo>
                  <a:pt x="7891064" y="0"/>
                </a:lnTo>
                <a:lnTo>
                  <a:pt x="7891064" y="4850580"/>
                </a:lnTo>
                <a:lnTo>
                  <a:pt x="0" y="4850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2463" y="3716281"/>
            <a:ext cx="6262216" cy="166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8"/>
              </a:lnSpc>
            </a:pPr>
            <a:r>
              <a:rPr lang="en-US" sz="47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regions have longer delivery times?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7345254"/>
            <a:ext cx="18288000" cy="114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5"/>
              </a:lnSpc>
              <a:spcBef>
                <a:spcPct val="0"/>
              </a:spcBef>
            </a:pPr>
            <a:r>
              <a:rPr lang="en-US" sz="32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Asia and Europe shows the longest average delivery time compared to other regions, indicating slower logistics performance in that market.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2" y="82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80755" y="1737962"/>
            <a:ext cx="7982543" cy="4166188"/>
          </a:xfrm>
          <a:custGeom>
            <a:avLst/>
            <a:gdLst/>
            <a:ahLst/>
            <a:cxnLst/>
            <a:rect l="l" t="t" r="r" b="b"/>
            <a:pathLst>
              <a:path w="7982543" h="4166188">
                <a:moveTo>
                  <a:pt x="0" y="0"/>
                </a:moveTo>
                <a:lnTo>
                  <a:pt x="7982544" y="0"/>
                </a:lnTo>
                <a:lnTo>
                  <a:pt x="7982544" y="4166188"/>
                </a:lnTo>
                <a:lnTo>
                  <a:pt x="0" y="4166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2463" y="3716281"/>
            <a:ext cx="6262216" cy="166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8"/>
              </a:lnSpc>
            </a:pPr>
            <a:r>
              <a:rPr lang="en-US" sz="47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How do discounts impact profit?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9411" y="6515100"/>
            <a:ext cx="13729388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318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Higher discounts do not consistently lead to higher profits. </a:t>
            </a:r>
          </a:p>
          <a:p>
            <a:pPr algn="ctr">
              <a:lnSpc>
                <a:spcPts val="4455"/>
              </a:lnSpc>
            </a:pPr>
            <a:r>
              <a:rPr lang="en-US" sz="318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Excessive discounting appears to reduce profitability, </a:t>
            </a:r>
          </a:p>
          <a:p>
            <a:pPr algn="ctr">
              <a:lnSpc>
                <a:spcPts val="4455"/>
              </a:lnSpc>
              <a:spcBef>
                <a:spcPct val="0"/>
              </a:spcBef>
            </a:pPr>
            <a:r>
              <a:rPr lang="en-US" sz="3182" dirty="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while moderate discount levels maintain healthier profit performance.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34731" y="1505000"/>
            <a:ext cx="8359770" cy="4710569"/>
          </a:xfrm>
          <a:custGeom>
            <a:avLst/>
            <a:gdLst/>
            <a:ahLst/>
            <a:cxnLst/>
            <a:rect l="l" t="t" r="r" b="b"/>
            <a:pathLst>
              <a:path w="8359770" h="4710569">
                <a:moveTo>
                  <a:pt x="0" y="0"/>
                </a:moveTo>
                <a:lnTo>
                  <a:pt x="8359770" y="0"/>
                </a:lnTo>
                <a:lnTo>
                  <a:pt x="8359770" y="4710569"/>
                </a:lnTo>
                <a:lnTo>
                  <a:pt x="0" y="47105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2463" y="3716281"/>
            <a:ext cx="6262216" cy="249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8"/>
              </a:lnSpc>
            </a:pPr>
            <a:r>
              <a:rPr lang="en-US" sz="47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Which country shows the most consistent sales trend?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7049" y="7156435"/>
            <a:ext cx="14073903" cy="187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35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France demonstrates the most stable monthly sales performance, </a:t>
            </a:r>
          </a:p>
          <a:p>
            <a:pPr algn="ctr">
              <a:lnSpc>
                <a:spcPts val="5015"/>
              </a:lnSpc>
            </a:pPr>
            <a:r>
              <a:rPr lang="en-US" sz="35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indicating predictable demand and </a:t>
            </a:r>
          </a:p>
          <a:p>
            <a:pPr algn="ctr">
              <a:lnSpc>
                <a:spcPts val="5015"/>
              </a:lnSpc>
              <a:spcBef>
                <a:spcPct val="0"/>
              </a:spcBef>
            </a:pPr>
            <a:r>
              <a:rPr lang="en-US" sz="358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steady customer purchasing behavior.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39411" y="710092"/>
            <a:ext cx="1889261" cy="2623974"/>
          </a:xfrm>
          <a:custGeom>
            <a:avLst/>
            <a:gdLst/>
            <a:ahLst/>
            <a:cxnLst/>
            <a:rect l="l" t="t" r="r" b="b"/>
            <a:pathLst>
              <a:path w="1889261" h="2623974">
                <a:moveTo>
                  <a:pt x="0" y="0"/>
                </a:moveTo>
                <a:lnTo>
                  <a:pt x="1889262" y="0"/>
                </a:lnTo>
                <a:lnTo>
                  <a:pt x="1889262" y="2623974"/>
                </a:lnTo>
                <a:lnTo>
                  <a:pt x="0" y="262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81101" y="2932718"/>
            <a:ext cx="4120806" cy="3993436"/>
          </a:xfrm>
          <a:custGeom>
            <a:avLst/>
            <a:gdLst/>
            <a:ahLst/>
            <a:cxnLst/>
            <a:rect l="l" t="t" r="r" b="b"/>
            <a:pathLst>
              <a:path w="4120806" h="3993436">
                <a:moveTo>
                  <a:pt x="0" y="0"/>
                </a:moveTo>
                <a:lnTo>
                  <a:pt x="4120806" y="0"/>
                </a:lnTo>
                <a:lnTo>
                  <a:pt x="4120806" y="3993436"/>
                </a:lnTo>
                <a:lnTo>
                  <a:pt x="0" y="3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963858" y="1638300"/>
            <a:ext cx="7707019" cy="4342757"/>
          </a:xfrm>
          <a:custGeom>
            <a:avLst/>
            <a:gdLst/>
            <a:ahLst/>
            <a:cxnLst/>
            <a:rect l="l" t="t" r="r" b="b"/>
            <a:pathLst>
              <a:path w="7707019" h="4342757">
                <a:moveTo>
                  <a:pt x="0" y="0"/>
                </a:moveTo>
                <a:lnTo>
                  <a:pt x="7707019" y="0"/>
                </a:lnTo>
                <a:lnTo>
                  <a:pt x="7707019" y="4342756"/>
                </a:lnTo>
                <a:lnTo>
                  <a:pt x="0" y="4342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2463" y="3716281"/>
            <a:ext cx="6262216" cy="249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8"/>
              </a:lnSpc>
            </a:pPr>
            <a:r>
              <a:rPr lang="en-US" sz="4727">
                <a:solidFill>
                  <a:srgbClr val="00691D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Where should we expand marketing investment?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11689" y="6634669"/>
            <a:ext cx="13066622" cy="118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3"/>
              </a:lnSpc>
              <a:spcBef>
                <a:spcPct val="0"/>
              </a:spcBef>
            </a:pPr>
            <a:r>
              <a:rPr lang="en-US" sz="3388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Marketing investment should be expanded in India and the UK, as they show high sales but fluctuating demand.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36500" y="8245873"/>
            <a:ext cx="8362355" cy="101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sz="291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Consistent marketing can help stabilize sales by </a:t>
            </a:r>
          </a:p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sz="2915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maintaining continuous customer engagement.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85897" y="821391"/>
            <a:ext cx="8011085" cy="801108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88117" y="2326775"/>
            <a:ext cx="6206646" cy="5411423"/>
            <a:chOff x="0" y="0"/>
            <a:chExt cx="8275528" cy="7215231"/>
          </a:xfrm>
        </p:grpSpPr>
        <p:sp>
          <p:nvSpPr>
            <p:cNvPr id="7" name="TextBox 7"/>
            <p:cNvSpPr txBox="1"/>
            <p:nvPr/>
          </p:nvSpPr>
          <p:spPr>
            <a:xfrm>
              <a:off x="0" y="666750"/>
              <a:ext cx="8275528" cy="3173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994"/>
                </a:lnSpc>
              </a:pPr>
              <a:r>
                <a:rPr lang="en-US" sz="16659">
                  <a:solidFill>
                    <a:srgbClr val="000000"/>
                  </a:solidFill>
                  <a:latin typeface="Feeling Passionate"/>
                  <a:ea typeface="Feeling Passionate"/>
                  <a:cs typeface="Feeling Passionate"/>
                  <a:sym typeface="Feeling Passionate"/>
                </a:rPr>
                <a:t>Thank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92261" y="4744714"/>
              <a:ext cx="4261316" cy="2470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15"/>
                </a:lnSpc>
              </a:pPr>
              <a:r>
                <a:rPr lang="en-US" sz="14122">
                  <a:solidFill>
                    <a:srgbClr val="000000"/>
                  </a:solidFill>
                  <a:latin typeface="Feeling Passionate"/>
                  <a:ea typeface="Feeling Passionate"/>
                  <a:cs typeface="Feeling Passionate"/>
                  <a:sym typeface="Feeling Passionate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657</Words>
  <Application>Microsoft Office PowerPoint</Application>
  <PresentationFormat>Custom</PresentationFormat>
  <Paragraphs>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Bricolage Grotesque Bold</vt:lpstr>
      <vt:lpstr>Bricolage Grotesque</vt:lpstr>
      <vt:lpstr>Canva Sans Bold</vt:lpstr>
      <vt:lpstr>Arial</vt:lpstr>
      <vt:lpstr>Calibri</vt:lpstr>
      <vt:lpstr>Feeling Passionate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2024 the total profit is: 184.58k in 2025 the total profit is: 160.42k 184.58K − 160.42K = 24.16K Percentage Change: 24.16184.58×100≈13.1%\frac{24.16}{184.58} \times 100 \approx 13.1\%184.5824.16​×100≈13.1% Profit dropped by about 13% in 2025 compared</dc:title>
  <dc:creator>USER</dc:creator>
  <cp:lastModifiedBy>USER</cp:lastModifiedBy>
  <cp:revision>5</cp:revision>
  <dcterms:created xsi:type="dcterms:W3CDTF">2006-08-16T00:00:00Z</dcterms:created>
  <dcterms:modified xsi:type="dcterms:W3CDTF">2026-02-18T12:38:41Z</dcterms:modified>
  <dc:identifier>DAHBqxKATeE</dc:identifier>
</cp:coreProperties>
</file>